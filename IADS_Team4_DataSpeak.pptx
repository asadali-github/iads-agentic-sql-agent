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Revenue by category ($M) — 200,000 orders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bubble3D val="0"/>
            <c:spPr>
              <a:solidFill>
                <a:srgbClr val="7C6CF0"/>
              </a:solidFill>
              <a:effectLst/>
            </c:spPr>
          </c:dPt>
          <c:dPt>
            <c:idx val="3"/>
            <c:bubble3D val="0"/>
            <c:spPr>
              <a:solidFill>
                <a:srgbClr val="F5B54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Electronics</c:v>
                </c:pt>
                <c:pt idx="1">
                  <c:v>Home &amp; Furniture</c:v>
                </c:pt>
                <c:pt idx="2">
                  <c:v>Clothing</c:v>
                </c:pt>
                <c:pt idx="3">
                  <c:v>Accessories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57.5</c:v>
                </c:pt>
                <c:pt idx="1">
                  <c:v>47.7</c:v>
                </c:pt>
                <c:pt idx="2">
                  <c:v>27.1</c:v>
                </c:pt>
                <c:pt idx="3">
                  <c:v>10.1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B1437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143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B1437"/>
                </a:solidFill>
                <a:latin typeface="Arial"/>
              </a:rPr>
              <a:t>Golden benchmark — questions per tier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Questions</c:v>
                </c:pt>
              </c:strCache>
            </c:strRef>
          </c:tx>
          <c:spPr>
            <a:solidFill>
              <a:srgbClr val="14B8A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B143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8BDF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6CF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Easy</c:v>
                  </c:pt>
                  <c:pt idx="1">
                    <c:v>Medium</c:v>
                  </c:pt>
                  <c:pt idx="2">
                    <c:v>Hard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8</c:v>
                </c:pt>
                <c:pt idx="2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B143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852160" cy="585216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3291840"/>
            <a:ext cx="4206240" cy="4206240"/>
          </a:xfrm>
          <a:prstGeom prst="ellipse">
            <a:avLst/>
          </a:prstGeom>
          <a:solidFill>
            <a:srgbClr val="101C4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229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IADS AGENTIC AI HACKATHON 2026   ·   CHALLENGE 3   ·   OCI × ENIGEN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548640" y="2926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 your Oracle database anything — in plain English.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a trustworthy, explained answer in seconds.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Text-to-SQL analyst built natively on Oracle Cloud Infrastructure.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800600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8006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agent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063240" y="4800600"/>
            <a:ext cx="283464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063240" y="480060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RAG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4800600"/>
            <a:ext cx="2286000" cy="310896"/>
          </a:xfrm>
          <a:prstGeom prst="roundRect">
            <a:avLst>
              <a:gd name="adj" fmla="val 50000"/>
            </a:avLst>
          </a:prstGeom>
          <a:solidFill>
            <a:srgbClr val="7C6CF0"/>
          </a:solidFill>
          <a:ln/>
        </p:spPr>
      </p:sp>
      <p:sp>
        <p:nvSpPr>
          <p:cNvPr id="13" name="Text 11"/>
          <p:cNvSpPr/>
          <p:nvPr/>
        </p:nvSpPr>
        <p:spPr>
          <a:xfrm>
            <a:off x="6080760" y="480060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 AI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549640" y="480060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5" name="Text 13"/>
          <p:cNvSpPr/>
          <p:nvPr/>
        </p:nvSpPr>
        <p:spPr>
          <a:xfrm>
            <a:off x="8549640" y="480060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4  ·  University of Essex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data has the answers. Your people can't reach them.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338328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enterprise data sits in relational databases — reachable only through SQL.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242816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42816" y="1737360"/>
            <a:ext cx="82296" cy="338328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4517136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question = 1 ticket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17136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question becomes a request to a stretched data team, answered in days.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6992" y="1737360"/>
            <a:ext cx="347472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36992" y="1737360"/>
            <a:ext cx="82296" cy="338328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4" name="Text 12"/>
          <p:cNvSpPr/>
          <p:nvPr/>
        </p:nvSpPr>
        <p:spPr>
          <a:xfrm>
            <a:off x="8211312" y="20116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Decisions wait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11312" y="3154680"/>
            <a:ext cx="2971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4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act on gut feel because the number arrives too late to matter.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result:  </a:t>
            </a:r>
            <a:pPr algn="ctr" indent="0" marL="0">
              <a:buNone/>
            </a:pPr>
            <a:r>
              <a:rPr lang="en-US" sz="1700" dirty="0">
                <a:solidFill>
                  <a:srgbClr val="5B647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data team that is a bottleneck, and a business that flies blind.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108960"/>
            <a:ext cx="5669280" cy="566928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tireless AI data analyst that lives inside Oracle Cloud.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1261872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61872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“Top 5 products by revenue last quarter?”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29968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474720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761488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Retrieve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61488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23ai vector search finds the right tables &amp; rules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42816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687568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87568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74336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4336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writes safe SQL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55664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900416" y="3200400"/>
            <a:ext cx="731520" cy="731520"/>
          </a:xfrm>
          <a:prstGeom prst="ellipse">
            <a:avLst/>
          </a:prstGeom>
          <a:solidFill>
            <a:srgbClr val="172552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00416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87184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87184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query on Autonomous DB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68512" y="3566160"/>
            <a:ext cx="713232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13264" y="3200400"/>
            <a:ext cx="731520" cy="731520"/>
          </a:xfrm>
          <a:prstGeom prst="ellipse">
            <a:avLst/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13264" y="32004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400032" y="4069080"/>
            <a:ext cx="21579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Explain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00032" y="4407408"/>
            <a:ext cx="215798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chart + insight + confidence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a query tool. An agent that reasons, asks, and explains.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question in. A decision-ready answer 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40080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448056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asked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21284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“What is the total revenue by product category?”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868680" y="2788920"/>
            <a:ext cx="5760720" cy="18288"/>
          </a:xfrm>
          <a:prstGeom prst="rect">
            <a:avLst/>
          </a:prstGeom>
          <a:solidFill>
            <a:srgbClr val="E4E8F2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led revenue with $57.5M — 40% of the total.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34290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3 categories make up 93% of revenue.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Accessories is lowest at $10.1M.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68680" y="4434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4434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 90%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08960" y="4434840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3108960" y="44348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auto-built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68680" y="49834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did the AI work this out?”  →  shows the exact SQL + plain-English steps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7269480" y="1828800"/>
          <a:ext cx="45720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multi-stage agent, OCI-native end to end.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41732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75688"/>
            <a:ext cx="502920" cy="50292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63040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+ memory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follow-ups; expand business terms (turnover → revenue)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42816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42816" y="1783080"/>
            <a:ext cx="82296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2" name="Shape 10"/>
          <p:cNvSpPr/>
          <p:nvPr/>
        </p:nvSpPr>
        <p:spPr>
          <a:xfrm>
            <a:off x="4498848" y="2075688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4498848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157216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RAG retrieval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157216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23ai vector search + OCI GenAI embeddings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36992" y="17830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936992" y="1783080"/>
            <a:ext cx="82296" cy="1417320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18" name="Shape 16"/>
          <p:cNvSpPr/>
          <p:nvPr/>
        </p:nvSpPr>
        <p:spPr>
          <a:xfrm>
            <a:off x="8193024" y="2075688"/>
            <a:ext cx="502920" cy="50292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19" name="Text 17"/>
          <p:cNvSpPr/>
          <p:nvPr/>
        </p:nvSpPr>
        <p:spPr>
          <a:xfrm>
            <a:off x="8193024" y="2075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851392" y="1984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SQL generation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851392" y="23500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Select AI (DBMS_CLOUD_AI.GENERATE)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383280"/>
            <a:ext cx="82296" cy="141732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04672" y="3675888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5" name="Text 23"/>
          <p:cNvSpPr/>
          <p:nvPr/>
        </p:nvSpPr>
        <p:spPr>
          <a:xfrm>
            <a:off x="804672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463040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 &amp; guard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Read-only, single-SELECT, row-cap, timeout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42816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42816" y="3383280"/>
            <a:ext cx="82296" cy="14173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30" name="Shape 28"/>
          <p:cNvSpPr/>
          <p:nvPr/>
        </p:nvSpPr>
        <p:spPr>
          <a:xfrm>
            <a:off x="4498848" y="3675888"/>
            <a:ext cx="502920" cy="50292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157216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 execution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157216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Database (live)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36992" y="3383280"/>
            <a:ext cx="3474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936992" y="3383280"/>
            <a:ext cx="82296" cy="141732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36" name="Shape 34"/>
          <p:cNvSpPr/>
          <p:nvPr/>
        </p:nvSpPr>
        <p:spPr>
          <a:xfrm>
            <a:off x="8193024" y="3675888"/>
            <a:ext cx="502920" cy="50292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37" name="Text 35"/>
          <p:cNvSpPr/>
          <p:nvPr/>
        </p:nvSpPr>
        <p:spPr>
          <a:xfrm>
            <a:off x="8193024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8851392" y="35844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Summarise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851392" y="3950208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insights + chart + confidence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52578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Powered by OCI:  </a:t>
            </a:r>
            <a:pPr algn="ctr" indent="0" marL="0">
              <a:buNone/>
            </a:pPr>
            <a:r>
              <a:rPr lang="en-US" sz="1500" b="1" dirty="0">
                <a:solidFill>
                  <a:srgbClr val="C7463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Generative AI  ·  23ai Vector Search  ·  Select AI  ·  Autonomous Database  ·  Object Storage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IT'S AN AGENT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reasons — it doesn't just translate.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69164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Multi-turn memory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“Revenue by region?” → “…and by category?” It remembers context across turns.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080760" y="178308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83080"/>
            <a:ext cx="82296" cy="169164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Asks before guessing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244144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support-guard refuses to invent SQL when context is weak, and asks a clarifying question.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57600"/>
            <a:ext cx="82296" cy="169164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Self-validates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query is parsed and checked: read-only, single statement, row-capped, time-boxed.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080760" y="3657600"/>
            <a:ext cx="5303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657600"/>
            <a:ext cx="82296" cy="169164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8862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Disambiguates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00800" y="43159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“By 'margin', did you mean total profit or profit margin?” — responsible AI, not a guess.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SETS US APART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things most Text-to-SQL teams won't have.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3474720" cy="8229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Vector decisioning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exact data doesn't exist, we return the nearest real data — semantically.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the “iPhone 15” (not in catalogue) → we answer with “Apple iPhone 14”, flagged as an approximate match.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42816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42816" y="1600200"/>
            <a:ext cx="3474720" cy="82296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3" name="Text 11"/>
          <p:cNvSpPr/>
          <p:nvPr/>
        </p:nvSpPr>
        <p:spPr>
          <a:xfrm>
            <a:off x="4517136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17136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Semantic evaluation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17136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score the meaning of generated SQL, not the text — robust to aliases, formatting, dialect.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17136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17" name="Text 15"/>
          <p:cNvSpPr/>
          <p:nvPr/>
        </p:nvSpPr>
        <p:spPr>
          <a:xfrm>
            <a:off x="4517136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AST-level equivalence check + execution accuracy across a 22-question, 3-tier benchmark.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936992" y="1600200"/>
            <a:ext cx="3474720" cy="416052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936992" y="1600200"/>
            <a:ext cx="3474720" cy="82296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20" name="Text 18"/>
          <p:cNvSpPr/>
          <p:nvPr/>
        </p:nvSpPr>
        <p:spPr>
          <a:xfrm>
            <a:off x="8211312" y="1828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6CF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211312" y="2395728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Glossary feature-engineering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211312" y="3063240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business-term layer turns corporate language into the right columns.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11312" y="4206240"/>
            <a:ext cx="2926080" cy="13716"/>
          </a:xfrm>
          <a:prstGeom prst="rect">
            <a:avLst/>
          </a:prstGeom>
          <a:solidFill>
            <a:srgbClr val="2A376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15968"/>
            <a:ext cx="29718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i="1" dirty="0">
                <a:solidFill>
                  <a:srgbClr val="7C6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“turnover”, “sales”, “takings” all resolve to revenue — lifting retrieval recall before embedding.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BUILT ON OCI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Oracle Cloud services — not a wrapper.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37360"/>
            <a:ext cx="82296" cy="1261872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 Generative AI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embeddings — cohere.embed-english-v3.0 (1024-dim) — power semantic retrieval.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80760" y="173736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0760" y="1737360"/>
            <a:ext cx="82296" cy="12618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19202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23ai Vector Search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400800" y="230428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&amp; business docs stored as VECTOR; retrieved with VECTOR_DISTANCE(... COSINE).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154680"/>
            <a:ext cx="82296" cy="1261872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Oracle Select AI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NL→SQL via DBMS_CLOUD_AI.GENERATE — generation runs inside the database.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80760" y="31546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154680"/>
            <a:ext cx="82296" cy="1261872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Database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400800" y="372160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Live, read-only SQL execution with connection pooling, row caps and timeouts.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572000"/>
            <a:ext cx="82296" cy="1261872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Object Storage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6868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Stages the raw dataset before it is cleaned and seeded into the database.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457200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4572000"/>
            <a:ext cx="82296" cy="1261872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Enterprise-ready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6400800" y="5138928"/>
            <a:ext cx="4800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auth, least-privilege user, OCI Vault &amp; resource-principal ready.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Enterprise-grade by design — answers you can act on.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572768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57400"/>
            <a:ext cx="365760" cy="36576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Read-only execution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SELECT only. No INSERT/UPDATE/DROP can ever reach your database.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42816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42816" y="1783080"/>
            <a:ext cx="82296" cy="1572768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1" name="Shape 9"/>
          <p:cNvSpPr/>
          <p:nvPr/>
        </p:nvSpPr>
        <p:spPr>
          <a:xfrm>
            <a:off x="4517136" y="205740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2" name="Text 10"/>
          <p:cNvSpPr/>
          <p:nvPr/>
        </p:nvSpPr>
        <p:spPr>
          <a:xfrm>
            <a:off x="5020056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hallucinated numbers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517136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are computed in code from the real rows — never invented by the LLM.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36992" y="178308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36992" y="1783080"/>
            <a:ext cx="82296" cy="1572768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16" name="Shape 14"/>
          <p:cNvSpPr/>
          <p:nvPr/>
        </p:nvSpPr>
        <p:spPr>
          <a:xfrm>
            <a:off x="8211312" y="2057400"/>
            <a:ext cx="365760" cy="365760"/>
          </a:xfrm>
          <a:prstGeom prst="ellipse">
            <a:avLst/>
          </a:prstGeom>
          <a:solidFill>
            <a:srgbClr val="7C6CF0"/>
          </a:solidFill>
          <a:ln/>
        </p:spPr>
      </p:sp>
      <p:sp>
        <p:nvSpPr>
          <p:cNvPr id="17" name="Text 15"/>
          <p:cNvSpPr/>
          <p:nvPr/>
        </p:nvSpPr>
        <p:spPr>
          <a:xfrm>
            <a:off x="8714232" y="202082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PII protection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11312" y="256032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Emails, phones and IDs are stripped from logs and answers, both ways.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566160"/>
            <a:ext cx="82296" cy="1572768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" y="3840480"/>
            <a:ext cx="365760" cy="365760"/>
          </a:xfrm>
          <a:prstGeom prst="ellipse">
            <a:avLst/>
          </a:prstGeom>
          <a:solidFill>
            <a:srgbClr val="F5B547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Confidence + clarify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carries a confidence; ambiguous asks get a question, not a guess.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42816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42816" y="3566160"/>
            <a:ext cx="82296" cy="1572768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6" name="Shape 24"/>
          <p:cNvSpPr/>
          <p:nvPr/>
        </p:nvSpPr>
        <p:spPr>
          <a:xfrm>
            <a:off x="4517136" y="3840480"/>
            <a:ext cx="365760" cy="365760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0056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Row caps &amp; timeouts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17136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bounded (≤500 rows, time-boxed) to protect the live database.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36992" y="3566160"/>
            <a:ext cx="347472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36992" y="3566160"/>
            <a:ext cx="82296" cy="1572768"/>
          </a:xfrm>
          <a:prstGeom prst="rect">
            <a:avLst/>
          </a:prstGeom>
          <a:solidFill>
            <a:srgbClr val="C74634"/>
          </a:solidFill>
          <a:ln/>
        </p:spPr>
      </p:sp>
      <p:sp>
        <p:nvSpPr>
          <p:cNvPr id="31" name="Shape 29"/>
          <p:cNvSpPr/>
          <p:nvPr/>
        </p:nvSpPr>
        <p:spPr>
          <a:xfrm>
            <a:off x="8211312" y="3840480"/>
            <a:ext cx="365760" cy="365760"/>
          </a:xfrm>
          <a:prstGeom prst="ellipse">
            <a:avLst/>
          </a:prstGeom>
          <a:solidFill>
            <a:srgbClr val="C74634"/>
          </a:solidFill>
          <a:ln/>
        </p:spPr>
      </p:sp>
      <p:sp>
        <p:nvSpPr>
          <p:cNvPr id="32" name="Text 30"/>
          <p:cNvSpPr/>
          <p:nvPr/>
        </p:nvSpPr>
        <p:spPr>
          <a:xfrm>
            <a:off x="8714232" y="380390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Graceful fallback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8211312" y="4343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live DB stalls, the agent degrades safely instead of failing the user.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MEASURED 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 teams ship a demo. We ship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1206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416052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benchmark, not a vibe.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golden questions across 3 difficulty tiers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accuracy + semantic AST equivalence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run modes — offline vs live never confused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p50/p95 + token cost per query tracked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 automated tests, incl. adversarial inputs</a:t>
            </a:r>
            <a:endParaRPr lang="en-US" sz="14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192024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5943600" y="534924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run live with OCI credentials to capture the headline accuracy % for the slide.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Self-serve analytics for everyone who has a question.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Days → seconds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from question to answer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242816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17136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10×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4517136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questions answered without the data team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36992" y="1600200"/>
            <a:ext cx="3474720" cy="1920240"/>
          </a:xfrm>
          <a:prstGeom prst="rect">
            <a:avLst/>
          </a:prstGeom>
          <a:solidFill>
            <a:srgbClr val="172552"/>
          </a:solidFill>
          <a:ln w="12700">
            <a:solidFill>
              <a:srgbClr val="24305C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11312" y="178308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8BD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8211312" y="27432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required to query the warehouse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84048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needs it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2960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business, not the database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242816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9" name="Shape 17"/>
          <p:cNvSpPr/>
          <p:nvPr/>
        </p:nvSpPr>
        <p:spPr>
          <a:xfrm>
            <a:off x="4242816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0" name="Text 18"/>
          <p:cNvSpPr/>
          <p:nvPr/>
        </p:nvSpPr>
        <p:spPr>
          <a:xfrm>
            <a:off x="4517136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Ops &amp; sales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17136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dashboards on demand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36992" y="4206240"/>
            <a:ext cx="3474720" cy="1143000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23" name="Shape 21"/>
          <p:cNvSpPr/>
          <p:nvPr/>
        </p:nvSpPr>
        <p:spPr>
          <a:xfrm>
            <a:off x="7936992" y="4206240"/>
            <a:ext cx="73152" cy="11430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4" name="Text 22"/>
          <p:cNvSpPr/>
          <p:nvPr/>
        </p:nvSpPr>
        <p:spPr>
          <a:xfrm>
            <a:off x="8211312" y="437083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teams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11312" y="4736592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escape the ad-hoc query queue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dirty="0">
                <a:solidFill>
                  <a:srgbClr val="F5B5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USP:  </a:t>
            </a:r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don't stop at SQL — we answer, explain, chart, ask before guessing, and return the nearest real data when an exact match doesn't exist.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engineering depth behind the magic.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82296" cy="1828800"/>
          </a:xfrm>
          <a:prstGeom prst="rect">
            <a:avLst/>
          </a:prstGeom>
          <a:solidFill>
            <a:srgbClr val="7C6CF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6-stage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agent pipeline, each stage typed &amp; testable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28416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28416" y="1783080"/>
            <a:ext cx="82296" cy="182880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0" name="Text 8"/>
          <p:cNvSpPr/>
          <p:nvPr/>
        </p:nvSpPr>
        <p:spPr>
          <a:xfrm>
            <a:off x="3557016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557016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tests, including adversarial edge cases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08192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08192" y="1783080"/>
            <a:ext cx="82296" cy="1828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6336792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200,000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336792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real sales data, cleaned &amp; seeded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87968" y="1783080"/>
            <a:ext cx="26060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887968" y="1783080"/>
            <a:ext cx="82296" cy="1828800"/>
          </a:xfrm>
          <a:prstGeom prst="rect">
            <a:avLst/>
          </a:prstGeom>
          <a:solidFill>
            <a:srgbClr val="F5B547"/>
          </a:solidFill>
          <a:ln/>
        </p:spPr>
      </p:sp>
      <p:sp>
        <p:nvSpPr>
          <p:cNvPr id="18" name="Text 16"/>
          <p:cNvSpPr/>
          <p:nvPr/>
        </p:nvSpPr>
        <p:spPr>
          <a:xfrm>
            <a:off x="9116568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Docker + OCI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116568" y="274320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containerised, with a full production deployment guide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886200"/>
            <a:ext cx="110916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8F2"/>
            </a:solidFill>
            <a:prstDash val="solid"/>
          </a:ln>
          <a:effectLst>
            <a:outerShdw sx="100000" sy="100000" kx="0" ky="0" algn="bl" rotWithShape="0" blurRad="114300" dist="38100" dir="8100000">
              <a:srgbClr val="0B1437">
                <a:alpha val="1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86200"/>
            <a:ext cx="82296" cy="1828800"/>
          </a:xfrm>
          <a:prstGeom prst="rect">
            <a:avLst/>
          </a:prstGeom>
          <a:solidFill>
            <a:srgbClr val="22A06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0690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43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Honest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8680" y="4526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row-fallback, multi-turn memory, support-guard, PII filter, deterministic insights, semantic benchmark — all real and tested.   </a:t>
            </a:r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something is a future extension, our docs say so. No smoke, no mirrors.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DataSpeak  ·  Agentic Text-to-SQL on Oracle 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IADS Agentic AI Hackathon 2026  ·  Challenge 3  ·  OCI × Enigen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3200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2377440"/>
            <a:ext cx="6035040" cy="6035040"/>
          </a:xfrm>
          <a:prstGeom prst="ellipse">
            <a:avLst/>
          </a:prstGeom>
          <a:solidFill>
            <a:srgbClr val="17255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554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DataSpeak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question to insight — on Oracle Cloud, in seconds.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C4CD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turn every employee into a data analyst — safely, transparently, and </a:t>
            </a:r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natively on OCI.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3017520" cy="310896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42976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Agentic  ·  not a chatbot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749040" y="4297680"/>
            <a:ext cx="2743200" cy="310896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/>
        </p:spPr>
      </p:sp>
      <p:sp>
        <p:nvSpPr>
          <p:cNvPr id="9" name="Text 7"/>
          <p:cNvSpPr/>
          <p:nvPr/>
        </p:nvSpPr>
        <p:spPr>
          <a:xfrm>
            <a:off x="3749040" y="4297680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OCI-native RAG + SQL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675120" y="4297680"/>
            <a:ext cx="2651760" cy="310896"/>
          </a:xfrm>
          <a:prstGeom prst="roundRect">
            <a:avLst>
              <a:gd name="adj" fmla="val 50000"/>
            </a:avLst>
          </a:prstGeom>
          <a:solidFill>
            <a:srgbClr val="22A06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4297680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Benchmarked &amp; safe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5212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 — we'd love your questions.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E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IADS Agentic AI Hackathon 2026  ·  Challenge 3  ·  OCI × Enigen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DataSpeak — Agentic Text-to-SQL on OCI</dc:title>
  <dc:subject>PptxGenJS Presentation</dc:subject>
  <dc:creator>Team 4 — IADS Hackathon 2026</dc:creator>
  <cp:lastModifiedBy>Team 4 — IADS Hackathon 2026</cp:lastModifiedBy>
  <cp:revision>1</cp:revision>
  <dcterms:created xsi:type="dcterms:W3CDTF">2026-06-03T15:55:37Z</dcterms:created>
  <dcterms:modified xsi:type="dcterms:W3CDTF">2026-06-03T15:55:37Z</dcterms:modified>
</cp:coreProperties>
</file>