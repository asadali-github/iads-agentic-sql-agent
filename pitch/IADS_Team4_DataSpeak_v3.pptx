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20"/>
    <p:sldId id="258" r:id="rId4"/>
    <p:sldId id="259" r:id="rId5"/>
    <p:sldId id="270" r:id="rId21"/>
    <p:sldId id="260" r:id="rId6"/>
    <p:sldId id="273" r:id="rId24"/>
    <p:sldId id="261" r:id="rId7"/>
    <p:sldId id="262" r:id="rId8"/>
    <p:sldId id="263" r:id="rId9"/>
    <p:sldId id="264" r:id="rId10"/>
    <p:sldId id="265" r:id="rId11"/>
    <p:sldId id="266" r:id="rId12"/>
    <p:sldId id="271" r:id="rId22"/>
    <p:sldId id="267" r:id="rId13"/>
    <p:sldId id="272" r:id="rId2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5.xml"/><Relationship Id="rId14" Type="http://schemas.openxmlformats.org/officeDocument/2006/relationships/slide" Target="slides/slide17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3.xml"/><Relationship Id="rId21" Type="http://schemas.openxmlformats.org/officeDocument/2006/relationships/slide" Target="slides/slide6.xml"/><Relationship Id="rId22" Type="http://schemas.openxmlformats.org/officeDocument/2006/relationships/slide" Target="slides/slide14.xml"/><Relationship Id="rId23" Type="http://schemas.openxmlformats.org/officeDocument/2006/relationships/slide" Target="slides/slide16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4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437"/>
                </a:solidFill>
                <a:latin typeface="Arial"/>
              </a:rPr>
              <a:t>Revenue by category ($M) — 200,000 orders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bubble3D val="0"/>
            <c:spPr>
              <a:solidFill>
                <a:srgbClr val="7C6CF0"/>
              </a:solidFill>
              <a:effectLst/>
            </c:spPr>
          </c:dPt>
          <c:dPt>
            <c:idx val="3"/>
            <c:bubble3D val="0"/>
            <c:spPr>
              <a:solidFill>
                <a:srgbClr val="F5B54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Home &amp; Furniture</c:v>
                </c:pt>
                <c:pt idx="2">
                  <c:v>Clothing</c:v>
                </c:pt>
                <c:pt idx="3">
                  <c:v>Accessories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57.5</c:v>
                </c:pt>
                <c:pt idx="1">
                  <c:v>47.7</c:v>
                </c:pt>
                <c:pt idx="2">
                  <c:v>27.1</c:v>
                </c:pt>
                <c:pt idx="3">
                  <c:v>10.1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14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4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437"/>
                </a:solidFill>
                <a:latin typeface="Arial"/>
              </a:rPr>
              <a:t>Golden benchmark — questions per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14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6CF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Easy</c:v>
                  </c:pt>
                  <c:pt idx="1">
                    <c:v>Medium</c:v>
                  </c:pt>
                  <c:pt idx="2">
                    <c:v>Hard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8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B14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[0:20] HOOK. Smile, slow down. “Every company is sitting on data it can’t use.” Then: ‘We’re Team 4, and DataSpeak lets anyone ask their Oracle database anything in plain English and get a trustworthy, explained answer in seconds.’ Do NOT read the badges — they’re proof points for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[0:35] Make it hurt. 85% of enterprise data is locked behind SQL. Every business question becomes a ticket to a stretched data team — answered in days. Managers act on gut feel. EMPHASIS + pause on: ‘the data team is a bottleneck, and the business flies blind.’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[0:30] Introduce the product as a teammate: ‘a tireless AI data analyst that lives inside Oracle Cloud.’ Walk the five verbs quickly — Ask → Retrieve → Generate → Execute → Explain. Punchline (gold line): ‘not a query tool — an agent that reasons, asks and explains.’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[skip live] BACKUP for the demo. One question in, a decision-ready answer out: answer + insight + confidence + auto chart, and ‘how did the AI work this out?’ reveals the SQL. If the live demo fails, present THIS slide as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[0:25] BACKUP / technical judges. Six jobs, one per stage, OCI-native: Classify intent -&gt; Ground (RAG) -&gt; Generate (Select AI) -&gt; Guard (read-only) -&gt; Execute &amp; reflect (retry on failure) -&gt; Explain. Stress two things judges reward: it CLASSIFIES before querying, and it REFLECTS (fixes and retries) instead of failing. Every stage is typed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[0:25] OUR INNOVATION. A normal bot turns every message into a new query. Ours runs a CONFIDENCE-AWARE CLASSIFIER first and picks one of four actions: TRANSFORM the rows on screen (no re-query — our wow moment), RUN a new query, MODIFY the previous SQL with a new constraint, or ASK a clarifying question when unsure. EMPHASIS: 'it treats a conversation as a sequence of decisions, not isolated prompts.' This is what makes it an agent, not a translator.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[0:35] Our three moats most teams won’t have: (1) vector decisioning — nearest REAL data when an exact match doesn’t exist; (2) semantic AST evaluation — we score meaning not text; (3) glossary feature-engineering — ‘turnover/sales/takings’ all resolve to revenue. Slow down here — this is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[0:20] BACKUP. Real Oracle Cloud, not a wrapper: GenAI embeddings (cohere 1024-dim), 23ai VECTOR_DISTANCE, Select AI (DBMS_CLOUD_AI.GENERATE), Autonomous DB, Object Storage. Mention wallet auth + least privilege for the enterprise crowd.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[0:25] Why you can ACT on the answer: read-only single-SELECT (no writes can ever reach the DB), no hallucinated numbers (computed in code), PII stripped both ways, confidence + clarify, row caps &amp; timeouts, graceful fallback. This is what makes it enterprise-ready.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[0:25] ‘Most teams ship a demo — we ship evidence.’ 22 golden questions across 3 tiers, execution accuracy + semantic AST equivalence, honest offline vs live modes, latency p50/p95 + token cost, 100+ tests incl. adversarial. If you ran live, say the headline accuracy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[0:30] Tie back to the problem. Days → seconds; 10× more questions answered without the data team; zero SQL skills needed. Who: executives, ops &amp; sales, data teams. Restate the USP (gold 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[skip] BACKUP for engineering Q&amp;A. 6-stage modular pipeline, 100+ tests, 200k rows real sales data, Docker + OCI deploy guide. Emphasis on honesty: where something is a future extension, the docs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[0:20] Land the plane. ‘DataSpeak turns every employee into a data analyst — safely, transparently, natively on OCI.’ Restate the three pills. ‘From question to insight, in seconds. We’d love your questions.’ Confident pause, then invite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[0:20] BACKUP. Why this is a real opportunity now: analytics is a $300B+ market; NL-to-SQL only recently became dependable; Oracle 23ai makes the stack native. Land: ‘the pain is old, the capability is new.’ Cut this slide first if short 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[1:30] CENTERPIECE — switch to the app. Beat 1: ask ‘total revenue by product category’ → answer + chart + confidence. Beat 2: type ‘sort those ascending’ → it reshapes the SAME result instantly, NO database re-query (say this out loud — it’s our wow moment). Beat 3: ask for an off-catalogue product → nearest real match, clearly flagged. Narrate VALUE, not clicks. If anything lags, keep talking and fall back to slide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[0:20] Show this is bigger than a hackathon: multi-database, governed semantic layer, access &amp; audit, proactive insights, embeddable, scale on OCI. Land: ‘same safe core — more data sources, more guardrails, more reach.’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[0:20] Who built it and what we want. 6 weeks, 100% real OCI services, one ask. Introduce the three role areas (add your names!). Deliver THE ASK clearly: ‘a pilot dataset and 30 minutes with your data team.’ Make eye contact.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[0:25] THE ARCHITECTURE DIAGRAM judges asked for. Trace it left to right: the user asks in Streamlit/FastAPI; we classify intent; ground in 23ai Vector Search with GenAI embeddings; generate SQL with Select AI INSIDE the database; guard it read-only; execute on Autonomous DB; explain with a chart, confidence and an audit trail. Reflect loops back on failure. Every box is a real OCI resource — point at the band.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72552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4206240" cy="4206240"/>
          </a:xfrm>
          <a:prstGeom prst="ellipse">
            <a:avLst/>
          </a:prstGeom>
          <a:solidFill>
            <a:srgbClr val="101C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IADS AGENTIC AI HACKATHON 2026   ·   CHALLENGE 3   ·   OCI × ENIGEN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DataSpeak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your Oracle database anything — in plain English.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a trustworthy, explained answer in seconds.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Text-to-SQL analyst built natively on Oracle Cloud Infrastructure.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800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Multi-turn agent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63240" y="480060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48006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23ai vector RAG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48006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7C6CF0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48006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AI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49640" y="480060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22A06B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48006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Benchmarked &amp; safe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8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4  ·  University of Essex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data has the answers. Your people can't reach them.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338328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data sits in relational databases — reachable only through SQL.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42816" y="173736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42816" y="1737360"/>
            <a:ext cx="82296" cy="33832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4517136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question = 1 ticket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17136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question becomes a request to a stretched data team, answered in days.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36992" y="173736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36992" y="1737360"/>
            <a:ext cx="82296" cy="338328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4" name="Text 12"/>
          <p:cNvSpPr/>
          <p:nvPr/>
        </p:nvSpPr>
        <p:spPr>
          <a:xfrm>
            <a:off x="8211312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wait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11312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act on gut feel because the number arrives too late to matter.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result:  </a:t>
            </a:r>
            <a:pPr algn="ctr" indent="0" marL="0">
              <a:buNone/>
            </a:pPr>
            <a:r>
              <a:rPr lang="en-US" sz="170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data team that is a bottleneck, and a business that flies blind.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&amp; 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massive market, finally unlocked.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338328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$300B+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analytics &amp; BI spend. Every team wants answers from data — most still wait on specialists.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42816" y="173736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42816" y="1737360"/>
            <a:ext cx="82296" cy="33832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4517136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GenAI moment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17136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 the last ~18 months has natural-language-to-SQL crossed from demo to dependable.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36992" y="173736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36992" y="1737360"/>
            <a:ext cx="82296" cy="338328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4" name="Text 12"/>
          <p:cNvSpPr/>
          <p:nvPr/>
        </p:nvSpPr>
        <p:spPr>
          <a:xfrm>
            <a:off x="8211312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Native on Oracle 23ai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11312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+ Select AI run the whole pipeline inside the database — no bolt-on stack.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pain is old. The capability is new. And the data already lives on Oracle.</a:t>
            </a:r>
            <a:pPr algn="ctr" indent="0" marL="0">
              <a:buNone/>
            </a:pP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669280" cy="5669280"/>
          </a:xfrm>
          <a:prstGeom prst="ellipse">
            <a:avLst/>
          </a:prstGeom>
          <a:solidFill>
            <a:srgbClr val="1725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tireless AI data analyst that lives inside Oracle Cloud.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261872" y="3200400"/>
            <a:ext cx="731520" cy="731520"/>
          </a:xfrm>
          <a:prstGeom prst="ellipse">
            <a:avLst/>
          </a:prstGeom>
          <a:solidFill>
            <a:srgbClr val="17255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4074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“Top 5 products by revenue last quarter?”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29968" y="3566160"/>
            <a:ext cx="71323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3200400"/>
            <a:ext cx="731520" cy="731520"/>
          </a:xfrm>
          <a:prstGeom prst="ellipse">
            <a:avLst/>
          </a:prstGeom>
          <a:solidFill>
            <a:srgbClr val="17255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61488" y="4069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61488" y="44074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23ai vector search finds the right tables &amp; rules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42816" y="3566160"/>
            <a:ext cx="71323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87568" y="3200400"/>
            <a:ext cx="731520" cy="731520"/>
          </a:xfrm>
          <a:prstGeom prst="ellipse">
            <a:avLst/>
          </a:prstGeom>
          <a:solidFill>
            <a:srgbClr val="17255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74336" y="4069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74336" y="44074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Select AI writes safe SQL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55664" y="3566160"/>
            <a:ext cx="71323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00416" y="3200400"/>
            <a:ext cx="731520" cy="731520"/>
          </a:xfrm>
          <a:prstGeom prst="ellipse">
            <a:avLst/>
          </a:prstGeom>
          <a:solidFill>
            <a:srgbClr val="17255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0416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87184" y="4069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87184" y="44074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query on Autonomous DB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68512" y="3566160"/>
            <a:ext cx="71323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13264" y="3200400"/>
            <a:ext cx="731520" cy="731520"/>
          </a:xfrm>
          <a:prstGeom prst="ellipse">
            <a:avLst/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13264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00032" y="4069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00032" y="44074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chart + insight + confidence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query tool. An agent that reasons, asks, and explains.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question in. A decision-ready answer out.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4480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asked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“What is the total revenue by product category?”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68680" y="2788920"/>
            <a:ext cx="5760720" cy="18288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803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led revenue with $57.5M — 40% of the total.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categories make up 93% of revenue.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is lowest at $10.1M.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434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2A06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434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 90%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443484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44348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auto-built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983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the AI work this out?”  →  shows the exact SQL + plain-English steps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269480" y="1828800"/>
          <a:ext cx="45720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it think — live, on real data.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4480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for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“Total revenue by product category”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68680" y="2788920"/>
            <a:ext cx="5760720" cy="18288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803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explained answer, an auto-built chart and a confidence score — in seconds.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computed from the real rows, never invented by the model.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434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2A06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434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shown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443484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44348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Follow-ups remembered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983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the AI work this out?” reveals the exact SQL + plain-English steps.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Rounded Rectangle 19"/>
          <p:cNvSpPr/>
          <p:nvPr/>
        </p:nvSpPr>
        <p:spPr>
          <a:xfrm>
            <a:off x="7269480" y="1828800"/>
            <a:ext cx="4572000" cy="429768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Trebuchet MS"/>
              </a:rPr>
              <a:t>▶  Switch to the live app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strict pipeline — one clear job per stage.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417320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75688"/>
            <a:ext cx="502920" cy="502920"/>
          </a:xfrm>
          <a:prstGeom prst="ellipse">
            <a:avLst/>
          </a:prstGeom>
          <a:solidFill>
            <a:srgbClr val="7C6CF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 intent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3500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ask: new query, transform, modify, or clarify.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42816" y="17830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42816" y="1783080"/>
            <a:ext cx="82296" cy="1417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498848" y="2075688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57216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Ground (RAG)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57216" y="23500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23ai vector search + OCI GenAI embeddings.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36992" y="17830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36992" y="1783080"/>
            <a:ext cx="82296" cy="141732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8" name="Shape 16"/>
          <p:cNvSpPr/>
          <p:nvPr/>
        </p:nvSpPr>
        <p:spPr>
          <a:xfrm>
            <a:off x="8193024" y="2075688"/>
            <a:ext cx="502920" cy="50292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9" name="Text 17"/>
          <p:cNvSpPr/>
          <p:nvPr/>
        </p:nvSpPr>
        <p:spPr>
          <a:xfrm>
            <a:off x="8193024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51392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 SQL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51392" y="23500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Select AI (DBMS_CLOUD_AI.GENERATE).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383280"/>
            <a:ext cx="82296" cy="141732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3675888"/>
            <a:ext cx="502920" cy="50292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single-SELECT, row-cap, timeout.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42816" y="3383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42816" y="3383280"/>
            <a:ext cx="82296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Shape 28"/>
          <p:cNvSpPr/>
          <p:nvPr/>
        </p:nvSpPr>
        <p:spPr>
          <a:xfrm>
            <a:off x="4498848" y="3675888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4498848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57216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 &amp; reflect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157216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DB; on failure, fix and retry.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936992" y="3383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36992" y="3383280"/>
            <a:ext cx="82296" cy="141732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36" name="Shape 34"/>
          <p:cNvSpPr/>
          <p:nvPr/>
        </p:nvSpPr>
        <p:spPr>
          <a:xfrm>
            <a:off x="8193024" y="3675888"/>
            <a:ext cx="502920" cy="502920"/>
          </a:xfrm>
          <a:prstGeom prst="ellipse">
            <a:avLst/>
          </a:prstGeom>
          <a:solidFill>
            <a:srgbClr val="F5B547"/>
          </a:solidFill>
          <a:ln/>
        </p:spPr>
      </p:sp>
      <p:sp>
        <p:nvSpPr>
          <p:cNvPr id="37" name="Text 35"/>
          <p:cNvSpPr/>
          <p:nvPr/>
        </p:nvSpPr>
        <p:spPr>
          <a:xfrm>
            <a:off x="8193024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851392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851392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insights + chart + confidence + audit.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52578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Powered by OCI:  </a:t>
            </a:r>
            <a:pPr algn="ctr" indent="0" marL="0">
              <a:buNone/>
            </a:pPr>
            <a:r>
              <a:rPr lang="en-US" sz="1500" b="1" dirty="0">
                <a:solidFill>
                  <a:srgbClr val="C746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 ·  23ai Vector Search  ·  Select AI  ·  Autonomous Database  ·  Object Storage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INNOVATION · THE CLASSIFIER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classifies your intent before it touches the data.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691640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TRANSFORM_PREVIOUS_RESULT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44144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Re-sort, filter or reshape the rows already on screen — instantly, with no new database query.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80760" y="1783080"/>
            <a:ext cx="82296" cy="169164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RUN_NEW_SQL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244144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new question — ground, generate, guard and execute from scratch.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82296" cy="169164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MODIFY_PREVIOUS_SQL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analysis, new constraint — edit the previous SQL, re-validate and re-run.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80760" y="365760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3657600"/>
            <a:ext cx="82296" cy="16916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ASK_CLARIFICATION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431596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confidence? It asks what you meant instead of guessing or re-querying blindly.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SETS US APART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 most Text-to-SQL teams won't have.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416052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474720" cy="8229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decisioning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exact data doesn't exist, we return the nearest real data — semantically.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2926080" cy="13716"/>
          </a:xfrm>
          <a:prstGeom prst="rect">
            <a:avLst/>
          </a:prstGeom>
          <a:solidFill>
            <a:srgbClr val="2A376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315968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“iPhone 15” (not in catalogue) → we answer with “Apple iPhone 14”, flagged as an approximate match.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42816" y="1600200"/>
            <a:ext cx="3474720" cy="416052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42816" y="1600200"/>
            <a:ext cx="347472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17136" y="23957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evaluation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17136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 the meaning of generated SQL, not the text — robust to aliases, formatting, dialect.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17136" y="4206240"/>
            <a:ext cx="2926080" cy="13716"/>
          </a:xfrm>
          <a:prstGeom prst="rect">
            <a:avLst/>
          </a:prstGeom>
          <a:solidFill>
            <a:srgbClr val="2A3766"/>
          </a:solidFill>
          <a:ln/>
        </p:spPr>
      </p:sp>
      <p:sp>
        <p:nvSpPr>
          <p:cNvPr id="17" name="Text 15"/>
          <p:cNvSpPr/>
          <p:nvPr/>
        </p:nvSpPr>
        <p:spPr>
          <a:xfrm>
            <a:off x="4517136" y="4315968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AST-level equivalence check + execution accuracy across a 22-question, 3-tier benchmark.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36992" y="1600200"/>
            <a:ext cx="3474720" cy="416052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36992" y="1600200"/>
            <a:ext cx="3474720" cy="82296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20" name="Text 18"/>
          <p:cNvSpPr/>
          <p:nvPr/>
        </p:nvSpPr>
        <p:spPr>
          <a:xfrm>
            <a:off x="8211312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6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211312" y="23957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Glossary feature-engineering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11312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business-term layer turns corporate language into the right columns.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11312" y="4206240"/>
            <a:ext cx="2926080" cy="13716"/>
          </a:xfrm>
          <a:prstGeom prst="rect">
            <a:avLst/>
          </a:prstGeom>
          <a:solidFill>
            <a:srgbClr val="2A3766"/>
          </a:solidFill>
          <a:ln/>
        </p:spPr>
      </p:sp>
      <p:sp>
        <p:nvSpPr>
          <p:cNvPr id="24" name="Text 22"/>
          <p:cNvSpPr/>
          <p:nvPr/>
        </p:nvSpPr>
        <p:spPr>
          <a:xfrm>
            <a:off x="8211312" y="4315968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C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“turnover”, “sales”, “takings” all resolve to revenue — lifting retrieval recall before embedding.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OCI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Oracle Cloud services — not a wrapper.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1261872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OCI Generative AI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30428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embeddings — cohere.embed-english-v3.0 (1024-dim) — power semantic retrieval.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80760" y="1737360"/>
            <a:ext cx="82296" cy="12618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23ai Vector Search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0" y="230428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business docs stored as VECTOR; retrieved with VECTOR_DISTANCE(... COSINE).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54680"/>
            <a:ext cx="82296" cy="1261872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Select AI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8680" y="372160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NL→SQL via DBMS_CLOUD_AI.GENERATE — generation runs inside the database.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315468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3154680"/>
            <a:ext cx="82296" cy="12618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Database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0" y="372160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read-only SQL execution with connection pooling, row caps and timeouts.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572000"/>
            <a:ext cx="82296" cy="1261872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Storage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68680" y="51389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the raw dataset before it is cleaned and seeded into the database.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80760" y="457200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4572000"/>
            <a:ext cx="82296" cy="1261872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Enterprise-ready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00800" y="51389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auth, least-privilege user, OCI Vault &amp; resource-principal ready.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&amp;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Enterprise-grade by design — answers you can act 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572768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57400"/>
            <a:ext cx="365760" cy="36576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0208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Read-only execution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SELECT only. No INSERT/UPDATE/DROP can ever reach your database.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42816" y="178308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42816" y="1783080"/>
            <a:ext cx="82296" cy="15727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9"/>
          <p:cNvSpPr/>
          <p:nvPr/>
        </p:nvSpPr>
        <p:spPr>
          <a:xfrm>
            <a:off x="4517136" y="205740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0056" y="20208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hallucinated numbers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17136" y="2560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are computed in code from the real rows — never invented by the LLM.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36992" y="178308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36992" y="1783080"/>
            <a:ext cx="82296" cy="1572768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11312" y="2057400"/>
            <a:ext cx="365760" cy="365760"/>
          </a:xfrm>
          <a:prstGeom prst="ellipse">
            <a:avLst/>
          </a:prstGeom>
          <a:solidFill>
            <a:srgbClr val="7C6CF0"/>
          </a:solidFill>
          <a:ln/>
        </p:spPr>
      </p:sp>
      <p:sp>
        <p:nvSpPr>
          <p:cNvPr id="17" name="Text 15"/>
          <p:cNvSpPr/>
          <p:nvPr/>
        </p:nvSpPr>
        <p:spPr>
          <a:xfrm>
            <a:off x="8714232" y="20208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PII protection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11312" y="2560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phones and IDs are stripped from logs and answers, both ways.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566160"/>
            <a:ext cx="82296" cy="1572768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3840480"/>
            <a:ext cx="365760" cy="365760"/>
          </a:xfrm>
          <a:prstGeom prst="ellipse">
            <a:avLst/>
          </a:prstGeom>
          <a:solidFill>
            <a:srgbClr val="F5B547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38039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+ clarify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carries a confidence; ambiguous asks get a question, not a guess.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42816" y="356616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42816" y="3566160"/>
            <a:ext cx="82296" cy="15727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517136" y="384048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0056" y="38039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 caps &amp; timeouts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17136" y="4343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are bounded (≤500 rows, time-boxed) to protect the live database.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36992" y="356616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36992" y="3566160"/>
            <a:ext cx="82296" cy="1572768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31" name="Shape 29"/>
          <p:cNvSpPr/>
          <p:nvPr/>
        </p:nvSpPr>
        <p:spPr>
          <a:xfrm>
            <a:off x="8211312" y="3840480"/>
            <a:ext cx="365760" cy="36576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32" name="Text 30"/>
          <p:cNvSpPr/>
          <p:nvPr/>
        </p:nvSpPr>
        <p:spPr>
          <a:xfrm>
            <a:off x="8714232" y="38039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 fallback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11312" y="4343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live DB stalls, the agent degrades safely instead of failing the user.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MEASURED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teams ship a demo. We ship evidence.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4160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benchmark, not a vibe.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golden questions across 3 difficulty tiers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accuracy + semantic AST equivalence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run modes — offline vs live never confused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p50/p95 + token cost per query tracked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automated tests, incl. adversarial inputs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0" y="1920240"/>
          <a:ext cx="5760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943600" y="53492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run live with OCI credentials to capture the headline accuracy % for the slide.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Self-serve analytics for everyone who has a question.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192024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→ seconds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question to answer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42816" y="1600200"/>
            <a:ext cx="3474720" cy="192024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17136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10×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517136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answered without the data team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36992" y="1600200"/>
            <a:ext cx="3474720" cy="192024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211312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skills required to query the warehouse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needs 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3474720" cy="1143000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206240"/>
            <a:ext cx="7315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business, not the database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42816" y="4206240"/>
            <a:ext cx="3474720" cy="1143000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242816" y="4206240"/>
            <a:ext cx="7315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4517136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 &amp; sales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17136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dashboards on demand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36992" y="4206240"/>
            <a:ext cx="3474720" cy="1143000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936992" y="4206240"/>
            <a:ext cx="7315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8211312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teams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1312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the ad-hoc query queue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5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USP:  </a:t>
            </a:r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don't stop at SQL — we answer, explain, chart, ask before guessing, and return the nearest real data when an exact match doesn't exist.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&amp;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hackathon MVP to enterprise platform.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417320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75688"/>
            <a:ext cx="502920" cy="502920"/>
          </a:xfrm>
          <a:prstGeom prst="ellipse">
            <a:avLst/>
          </a:prstGeom>
          <a:solidFill>
            <a:srgbClr val="7C6CF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Multi-database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3500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Postgres, Snowflake, MySQL — the agent stays the same.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42816" y="17830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42816" y="1783080"/>
            <a:ext cx="82296" cy="1417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498848" y="2075688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57216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57216" y="23500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metrics so ‘revenue’ means one thing company-wide.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36992" y="17830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36992" y="1783080"/>
            <a:ext cx="82296" cy="141732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8" name="Shape 16"/>
          <p:cNvSpPr/>
          <p:nvPr/>
        </p:nvSpPr>
        <p:spPr>
          <a:xfrm>
            <a:off x="8193024" y="2075688"/>
            <a:ext cx="502920" cy="50292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9" name="Text 17"/>
          <p:cNvSpPr/>
          <p:nvPr/>
        </p:nvSpPr>
        <p:spPr>
          <a:xfrm>
            <a:off x="8193024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51392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&amp; audit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51392" y="23500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security, SSO and a full query audit trail.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383280"/>
            <a:ext cx="82296" cy="141732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3675888"/>
            <a:ext cx="502920" cy="50292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Proactive insights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answers and anomaly alerts, pushed to you.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42816" y="3383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42816" y="3383280"/>
            <a:ext cx="82296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Shape 28"/>
          <p:cNvSpPr/>
          <p:nvPr/>
        </p:nvSpPr>
        <p:spPr>
          <a:xfrm>
            <a:off x="4498848" y="3675888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4498848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57216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Embeddable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157216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agent into any app via a simple API or widget.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936992" y="3383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36992" y="3383280"/>
            <a:ext cx="82296" cy="141732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36" name="Shape 34"/>
          <p:cNvSpPr/>
          <p:nvPr/>
        </p:nvSpPr>
        <p:spPr>
          <a:xfrm>
            <a:off x="8193024" y="3675888"/>
            <a:ext cx="502920" cy="502920"/>
          </a:xfrm>
          <a:prstGeom prst="ellipse">
            <a:avLst/>
          </a:prstGeom>
          <a:solidFill>
            <a:srgbClr val="F5B547"/>
          </a:solidFill>
          <a:ln/>
        </p:spPr>
      </p:sp>
      <p:sp>
        <p:nvSpPr>
          <p:cNvPr id="37" name="Text 35"/>
          <p:cNvSpPr/>
          <p:nvPr/>
        </p:nvSpPr>
        <p:spPr>
          <a:xfrm>
            <a:off x="8193024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851392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&amp; cost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851392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Caching, cost controls and autoscaling, native on OCI.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52578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safe core — more data sources, more guardrails, more reach.</a:t>
            </a:r>
            <a:pPr algn="ctr" indent="0" marL="0">
              <a:buNone/>
            </a:pP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engineering depth behind the magic.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828800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6-stage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agent pipeline, each stage typed &amp; testable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28416" y="178308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28416" y="1783080"/>
            <a:ext cx="82296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3557016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57016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including adversarial edge cases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08192" y="178308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08192" y="1783080"/>
            <a:ext cx="82296" cy="1828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36792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real sales data, cleaned &amp; seeded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87968" y="178308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87968" y="1783080"/>
            <a:ext cx="82296" cy="182880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18" name="Text 16"/>
          <p:cNvSpPr/>
          <p:nvPr/>
        </p:nvSpPr>
        <p:spPr>
          <a:xfrm>
            <a:off x="9116568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+ OCI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16568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containerised, with a full production deployment guide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109167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86200"/>
            <a:ext cx="82296" cy="182880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engineering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45262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row-fallback, multi-turn memory, support-guard, PII filter, deterministic insights, semantic benchmark — all real and tested.   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something is a future extension, our docs say so. No smoke, no mirrors.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by Team 4. Ready for what’s next.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192024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weeks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a benchmarked, OCI-native product.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42816" y="1600200"/>
            <a:ext cx="3474720" cy="192024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17136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517136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Oracle Cloud services — no mock-ups.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36992" y="1600200"/>
            <a:ext cx="3474720" cy="192024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ask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211312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on your data, and we’ll prove 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team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3474720" cy="1143000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206240"/>
            <a:ext cx="7315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&amp; pipeline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generation, guardrails, evaluation.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42816" y="4206240"/>
            <a:ext cx="3474720" cy="1143000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242816" y="4206240"/>
            <a:ext cx="7315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4517136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OCI &amp; data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17136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23ai vectors, Select AI, Autonomous DB, 200k-row seed.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36992" y="4206240"/>
            <a:ext cx="3474720" cy="1143000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936992" y="4206240"/>
            <a:ext cx="7315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8211312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&amp; UX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1312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follow-ups + the intelligent dashboard.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5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ask: a pilot dataset and 30 minutes with your data team — we’ll have DataSpeak answering your real questions.</a:t>
            </a:r>
            <a:pPr algn="l" indent="0" marL="0">
              <a:lnSpc>
                <a:spcPct val="1040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2377440"/>
            <a:ext cx="6035040" cy="6035040"/>
          </a:xfrm>
          <a:prstGeom prst="ellipse">
            <a:avLst/>
          </a:prstGeom>
          <a:solidFill>
            <a:srgbClr val="1725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DataSpeak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question to insight — on Oracle Cloud, in seconds.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every employee into a data analyst — safely, transparently, and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 on OCI.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976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 ·  not a chatbot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49040" y="429768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4297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OCI-native RAG + SQL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0" y="429768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2A06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42976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Benchmarked &amp; safe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— we'd love your questions.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·  IADS Agentic AI Hackathon 2026  ·  Challenge 3  ·  OCI × Enigen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Trebuchet MS"/>
              </a:rPr>
              <a:t>ARCHITECTURE ON OCI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0B1437"/>
                </a:solidFill>
                <a:latin typeface="Trebuchet MS"/>
              </a:rPr>
              <a:t>Every stage maps to a real Oracle Cloud service.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48840"/>
            <a:ext cx="1444752" cy="914400"/>
          </a:xfrm>
          <a:prstGeom prst="round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Trebuchet MS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" y="3172968"/>
            <a:ext cx="1536192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ctr"/>
            <a:r>
              <a:rPr sz="950">
                <a:solidFill>
                  <a:srgbClr val="5B6478"/>
                </a:solidFill>
                <a:latin typeface="Calibri"/>
              </a:rPr>
              <a:t>Streamlit + FastAPI</a:t>
            </a:r>
          </a:p>
        </p:txBody>
      </p:sp>
      <p:sp>
        <p:nvSpPr>
          <p:cNvPr id="6" name="Chevron 5"/>
          <p:cNvSpPr/>
          <p:nvPr/>
        </p:nvSpPr>
        <p:spPr>
          <a:xfrm>
            <a:off x="1956054" y="2468880"/>
            <a:ext cx="237744" cy="27432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56460" y="2148840"/>
            <a:ext cx="1444752" cy="914400"/>
          </a:xfrm>
          <a:prstGeom prst="round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Trebuchet MS"/>
              </a:rPr>
              <a:t>Classify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0740" y="3172968"/>
            <a:ext cx="1536192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ctr"/>
            <a:r>
              <a:rPr sz="950">
                <a:solidFill>
                  <a:srgbClr val="5B6478"/>
                </a:solidFill>
                <a:latin typeface="Calibri"/>
              </a:rPr>
              <a:t>LLM intent routing</a:t>
            </a:r>
          </a:p>
        </p:txBody>
      </p:sp>
      <p:sp>
        <p:nvSpPr>
          <p:cNvPr id="9" name="Chevron 8"/>
          <p:cNvSpPr/>
          <p:nvPr/>
        </p:nvSpPr>
        <p:spPr>
          <a:xfrm>
            <a:off x="3563874" y="2468880"/>
            <a:ext cx="237744" cy="27432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64280" y="2148840"/>
            <a:ext cx="1444752" cy="914400"/>
          </a:xfrm>
          <a:prstGeom prst="round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Trebuchet MS"/>
              </a:rPr>
              <a:t>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8560" y="3172968"/>
            <a:ext cx="1536192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ctr"/>
            <a:r>
              <a:rPr sz="950">
                <a:solidFill>
                  <a:srgbClr val="5B6478"/>
                </a:solidFill>
                <a:latin typeface="Calibri"/>
              </a:rPr>
              <a:t>23ai Vector Search +</a:t>
            </a:r>
          </a:p>
          <a:p>
            <a:pPr algn="ctr"/>
            <a:r>
              <a:rPr sz="950">
                <a:solidFill>
                  <a:srgbClr val="5B6478"/>
                </a:solidFill>
                <a:latin typeface="Calibri"/>
              </a:rPr>
              <a:t>GenAI embeddings</a:t>
            </a:r>
          </a:p>
        </p:txBody>
      </p:sp>
      <p:sp>
        <p:nvSpPr>
          <p:cNvPr id="12" name="Chevron 11"/>
          <p:cNvSpPr/>
          <p:nvPr/>
        </p:nvSpPr>
        <p:spPr>
          <a:xfrm>
            <a:off x="5171694" y="2468880"/>
            <a:ext cx="237744" cy="27432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72100" y="2148840"/>
            <a:ext cx="1444752" cy="914400"/>
          </a:xfrm>
          <a:prstGeom prst="round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Trebuchet MS"/>
              </a:rPr>
              <a:t>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6380" y="3172968"/>
            <a:ext cx="1536192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ctr"/>
            <a:r>
              <a:rPr sz="950">
                <a:solidFill>
                  <a:srgbClr val="5B6478"/>
                </a:solidFill>
                <a:latin typeface="Calibri"/>
              </a:rPr>
              <a:t>Select AI (in-database)</a:t>
            </a:r>
          </a:p>
        </p:txBody>
      </p:sp>
      <p:sp>
        <p:nvSpPr>
          <p:cNvPr id="15" name="Chevron 14"/>
          <p:cNvSpPr/>
          <p:nvPr/>
        </p:nvSpPr>
        <p:spPr>
          <a:xfrm>
            <a:off x="6779514" y="2468880"/>
            <a:ext cx="237744" cy="27432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79920" y="2148840"/>
            <a:ext cx="1444752" cy="914400"/>
          </a:xfrm>
          <a:prstGeom prst="round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Trebuchet MS"/>
              </a:rPr>
              <a:t>Guard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4200" y="3172968"/>
            <a:ext cx="1536192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ctr"/>
            <a:r>
              <a:rPr sz="950">
                <a:solidFill>
                  <a:srgbClr val="5B6478"/>
                </a:solidFill>
                <a:latin typeface="Calibri"/>
              </a:rPr>
              <a:t>Read-only validation</a:t>
            </a:r>
          </a:p>
        </p:txBody>
      </p:sp>
      <p:sp>
        <p:nvSpPr>
          <p:cNvPr id="18" name="Chevron 17"/>
          <p:cNvSpPr/>
          <p:nvPr/>
        </p:nvSpPr>
        <p:spPr>
          <a:xfrm>
            <a:off x="8387334" y="2468880"/>
            <a:ext cx="237744" cy="27432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87740" y="2148840"/>
            <a:ext cx="1444752" cy="914400"/>
          </a:xfrm>
          <a:prstGeom prst="round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Trebuchet MS"/>
              </a:rPr>
              <a:t>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2020" y="3172968"/>
            <a:ext cx="1536192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ctr"/>
            <a:r>
              <a:rPr sz="950">
                <a:solidFill>
                  <a:srgbClr val="5B6478"/>
                </a:solidFill>
                <a:latin typeface="Calibri"/>
              </a:rPr>
              <a:t>Autonomous Database</a:t>
            </a:r>
          </a:p>
        </p:txBody>
      </p:sp>
      <p:sp>
        <p:nvSpPr>
          <p:cNvPr id="21" name="Chevron 20"/>
          <p:cNvSpPr/>
          <p:nvPr/>
        </p:nvSpPr>
        <p:spPr>
          <a:xfrm>
            <a:off x="9995154" y="2468880"/>
            <a:ext cx="237744" cy="274320"/>
          </a:xfrm>
          <a:prstGeom prst="chevron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95560" y="2148840"/>
            <a:ext cx="1444752" cy="914400"/>
          </a:xfrm>
          <a:prstGeom prst="round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Trebuchet MS"/>
              </a:rPr>
              <a:t>Explain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3172968"/>
            <a:ext cx="1536192" cy="82296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 algn="ctr"/>
            <a:r>
              <a:rPr sz="950">
                <a:solidFill>
                  <a:srgbClr val="5B6478"/>
                </a:solidFill>
                <a:latin typeface="Calibri"/>
              </a:rPr>
              <a:t>Chart + confidence +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14B8A6"/>
                </a:solidFill>
                <a:latin typeface="Trebuchet MS"/>
              </a:rPr>
              <a:t>↩  Reflect: if a query fails or returns nothing unexpected, the agent fixes, re-validates and re-runs.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00600"/>
            <a:ext cx="11091672" cy="1051560"/>
          </a:xfrm>
          <a:prstGeom prst="roundRect">
            <a:avLst/>
          </a:prstGeom>
          <a:solidFill>
            <a:srgbClr val="172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100" b="1">
                <a:solidFill>
                  <a:srgbClr val="14B8A6"/>
                </a:solidFill>
                <a:latin typeface="Trebuchet MS"/>
              </a:rPr>
              <a:t>OCI resources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rebuchet MS"/>
              </a:rPr>
              <a:t>OCI Generative AI  ·  Oracle 23ai Vector Search  ·  Select AI  ·  Autonomous Database  ·  Object Storage  —  wallet auth, least-privilege user, Vault-ready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8"/>
                </a:solidFill>
                <a:latin typeface="Calibri"/>
              </a:rPr>
              <a:t>DataSpeak  ·  Agentic Text-to-SQL on Oracle 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3912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5B6478"/>
                </a:solidFill>
                <a:latin typeface="Calibri"/>
              </a:rPr>
              <a:t>IADS Agentic AI Hackathon 2026  ·  Challenge 3  ·  OCI × Enigen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DataSpeak — Agentic Text-to-SQL on OCI</dc:title>
  <dc:subject>PptxGenJS Presentation</dc:subject>
  <dc:creator>Team 4 — IADS Hackathon 2026</dc:creator>
  <cp:lastModifiedBy>Team 4 — IADS Hackathon 2026</cp:lastModifiedBy>
  <cp:revision>1</cp:revision>
  <dcterms:created xsi:type="dcterms:W3CDTF">2026-06-03T15:55:37Z</dcterms:created>
  <dcterms:modified xsi:type="dcterms:W3CDTF">2026-06-03T15:55:37Z</dcterms:modified>
</cp:coreProperties>
</file>